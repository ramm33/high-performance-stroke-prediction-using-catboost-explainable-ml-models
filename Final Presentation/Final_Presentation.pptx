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8" r:id="rId1"/>
  </p:sldMasterIdLst>
  <p:sldIdLst>
    <p:sldId id="256" r:id="rId2"/>
    <p:sldId id="266" r:id="rId3"/>
    <p:sldId id="258" r:id="rId4"/>
    <p:sldId id="272" r:id="rId5"/>
    <p:sldId id="276" r:id="rId6"/>
    <p:sldId id="277" r:id="rId7"/>
    <p:sldId id="261" r:id="rId8"/>
    <p:sldId id="278" r:id="rId9"/>
    <p:sldId id="280" r:id="rId10"/>
    <p:sldId id="271" r:id="rId11"/>
    <p:sldId id="281" r:id="rId12"/>
    <p:sldId id="274" r:id="rId13"/>
    <p:sldId id="265"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032621-580F-45C7-A50D-07707ABB32E2}" v="1" dt="2025-12-05T18:49:53.238"/>
    <p1510:client id="{C8E60379-5B27-4FD8-9AF6-56940BBC8343}" v="2" dt="2025-12-05T18:41:58.495"/>
  </p1510:revLst>
</p1510:revInfo>
</file>

<file path=ppt/tableStyles.xml><?xml version="1.0" encoding="utf-8"?>
<a:tblStyleLst xmlns:a="http://schemas.openxmlformats.org/drawingml/2006/main" def="{5C22544A-7EE6-4342-B048-85BDC9FD1C3A}">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7" d="100"/>
          <a:sy n="77" d="100"/>
        </p:scale>
        <p:origin x="1546" y="5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HIK IMMANENI" userId="532b2ecd506658f7" providerId="LiveId" clId="{D32A89E4-20BD-4D46-ACCD-CFC1529100F2}"/>
    <pc:docChg chg="undo custSel addSld delSld modSld">
      <pc:chgData name="KARTHIK IMMANENI" userId="532b2ecd506658f7" providerId="LiveId" clId="{D32A89E4-20BD-4D46-ACCD-CFC1529100F2}" dt="2025-12-05T18:50:13.331" v="10" actId="14100"/>
      <pc:docMkLst>
        <pc:docMk/>
      </pc:docMkLst>
      <pc:sldChg chg="add del">
        <pc:chgData name="KARTHIK IMMANENI" userId="532b2ecd506658f7" providerId="LiveId" clId="{D32A89E4-20BD-4D46-ACCD-CFC1529100F2}" dt="2025-12-05T18:49:28.925" v="5" actId="2696"/>
        <pc:sldMkLst>
          <pc:docMk/>
          <pc:sldMk cId="0" sldId="264"/>
        </pc:sldMkLst>
      </pc:sldChg>
      <pc:sldChg chg="del">
        <pc:chgData name="KARTHIK IMMANENI" userId="532b2ecd506658f7" providerId="LiveId" clId="{D32A89E4-20BD-4D46-ACCD-CFC1529100F2}" dt="2025-12-05T18:48:44.827" v="1" actId="47"/>
        <pc:sldMkLst>
          <pc:docMk/>
          <pc:sldMk cId="1317236541" sldId="269"/>
        </pc:sldMkLst>
      </pc:sldChg>
      <pc:sldChg chg="del">
        <pc:chgData name="KARTHIK IMMANENI" userId="532b2ecd506658f7" providerId="LiveId" clId="{D32A89E4-20BD-4D46-ACCD-CFC1529100F2}" dt="2025-12-05T18:48:47.816" v="2" actId="47"/>
        <pc:sldMkLst>
          <pc:docMk/>
          <pc:sldMk cId="1398238419" sldId="270"/>
        </pc:sldMkLst>
      </pc:sldChg>
      <pc:sldChg chg="modSp mod">
        <pc:chgData name="KARTHIK IMMANENI" userId="532b2ecd506658f7" providerId="LiveId" clId="{D32A89E4-20BD-4D46-ACCD-CFC1529100F2}" dt="2025-12-05T18:48:31.572" v="0" actId="20577"/>
        <pc:sldMkLst>
          <pc:docMk/>
          <pc:sldMk cId="860197378" sldId="272"/>
        </pc:sldMkLst>
        <pc:spChg chg="mod">
          <ac:chgData name="KARTHIK IMMANENI" userId="532b2ecd506658f7" providerId="LiveId" clId="{D32A89E4-20BD-4D46-ACCD-CFC1529100F2}" dt="2025-12-05T18:48:31.572" v="0" actId="20577"/>
          <ac:spMkLst>
            <pc:docMk/>
            <pc:sldMk cId="860197378" sldId="272"/>
            <ac:spMk id="3" creationId="{45389A1B-626B-EB09-3721-0F275E9B6AA1}"/>
          </ac:spMkLst>
        </pc:spChg>
      </pc:sldChg>
      <pc:sldChg chg="addSp modSp new mod">
        <pc:chgData name="KARTHIK IMMANENI" userId="532b2ecd506658f7" providerId="LiveId" clId="{D32A89E4-20BD-4D46-ACCD-CFC1529100F2}" dt="2025-12-05T18:50:13.331" v="10" actId="14100"/>
        <pc:sldMkLst>
          <pc:docMk/>
          <pc:sldMk cId="3997601120" sldId="274"/>
        </pc:sldMkLst>
        <pc:picChg chg="add mod">
          <ac:chgData name="KARTHIK IMMANENI" userId="532b2ecd506658f7" providerId="LiveId" clId="{D32A89E4-20BD-4D46-ACCD-CFC1529100F2}" dt="2025-12-05T18:50:13.331" v="10" actId="14100"/>
          <ac:picMkLst>
            <pc:docMk/>
            <pc:sldMk cId="3997601120" sldId="274"/>
            <ac:picMk id="4" creationId="{39FD76B0-09A8-9289-C77D-E1D31405846F}"/>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CAE1DB3-BA14-4248-AAFE-37F4F7A60B75}"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4FF40E-52D0-4323-9CCF-582B9116A96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CAE1DB3-BA14-4248-AAFE-37F4F7A60B75}"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4FF40E-52D0-4323-9CCF-582B9116A96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AE1DB3-BA14-4248-AAFE-37F4F7A60B75}"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4FF40E-52D0-4323-9CCF-582B9116A96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CAE1DB3-BA14-4248-AAFE-37F4F7A60B75}" type="datetimeFigureOut">
              <a:rPr lang="en-US" smtClean="0"/>
              <a:pPr/>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4FF40E-52D0-4323-9CCF-582B9116A96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CAE1DB3-BA14-4248-AAFE-37F4F7A60B75}" type="datetimeFigureOut">
              <a:rPr lang="en-US" smtClean="0"/>
              <a:pPr/>
              <a:t>2/19/2026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4FF40E-52D0-4323-9CCF-582B9116A96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CAE1DB3-BA14-4248-AAFE-37F4F7A60B75}" type="datetimeFigureOut">
              <a:rPr lang="en-US" smtClean="0"/>
              <a:pPr/>
              <a:t>2/19/2026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4FF40E-52D0-4323-9CCF-582B9116A96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AE1DB3-BA14-4248-AAFE-37F4F7A60B75}"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4FF40E-52D0-4323-9CCF-582B9116A96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AE1DB3-BA14-4248-AAFE-37F4F7A60B75}" type="datetimeFigureOut">
              <a:rPr lang="en-US" smtClean="0"/>
              <a:pPr/>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4FF40E-52D0-4323-9CCF-582B9116A96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AE1DB3-BA14-4248-AAFE-37F4F7A60B75}" type="datetimeFigureOut">
              <a:rPr lang="en-US" smtClean="0"/>
              <a:pPr/>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4FF40E-52D0-4323-9CCF-582B9116A96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CAE1DB3-BA14-4248-AAFE-37F4F7A60B75}"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4FF40E-52D0-4323-9CCF-582B9116A96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CAE1DB3-BA14-4248-AAFE-37F4F7A60B75}"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4FF40E-52D0-4323-9CCF-582B9116A96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AE1DB3-BA14-4248-AAFE-37F4F7A60B75}" type="datetimeFigureOut">
              <a:rPr lang="en-US" smtClean="0"/>
              <a:pPr/>
              <a:t>2/19/2026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4FF40E-52D0-4323-9CCF-582B9116A96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85728"/>
            <a:ext cx="9144000" cy="1285884"/>
          </a:xfrm>
        </p:spPr>
        <p:txBody>
          <a:bodyPr>
            <a:noAutofit/>
          </a:bodyPr>
          <a:lstStyle/>
          <a:p>
            <a:r>
              <a:rPr lang="en-IN" sz="2800" b="1" spc="-1" dirty="0">
                <a:latin typeface="Times New Roman" panose="02020603050405020304" pitchFamily="18" charset="0"/>
                <a:ea typeface="Calibri"/>
                <a:cs typeface="Times New Roman" panose="02020603050405020304" pitchFamily="18" charset="0"/>
              </a:rPr>
              <a:t>High-Performance Stroke Prediction Using Categorical Boosting and Explainable Machine Learning Models</a:t>
            </a:r>
            <a:endParaRPr lang="en-US" sz="2800" b="1" spc="-1" dirty="0">
              <a:latin typeface="Times New Roman" panose="02020603050405020304" pitchFamily="18" charset="0"/>
              <a:ea typeface="Calibri"/>
              <a:cs typeface="Times New Roman" panose="02020603050405020304" pitchFamily="18" charset="0"/>
            </a:endParaRPr>
          </a:p>
        </p:txBody>
      </p:sp>
      <p:sp>
        <p:nvSpPr>
          <p:cNvPr id="3" name="Subtitle 2"/>
          <p:cNvSpPr>
            <a:spLocks noGrp="1"/>
          </p:cNvSpPr>
          <p:nvPr>
            <p:ph type="subTitle" idx="1"/>
          </p:nvPr>
        </p:nvSpPr>
        <p:spPr>
          <a:xfrm>
            <a:off x="0" y="3000372"/>
            <a:ext cx="9144000" cy="3857628"/>
          </a:xfrm>
        </p:spPr>
        <p:txBody>
          <a:bodyPr>
            <a:noAutofit/>
          </a:bodyPr>
          <a:lstStyle/>
          <a:p>
            <a:pPr lvl="0">
              <a:lnSpc>
                <a:spcPts val="3360"/>
              </a:lnSpc>
              <a:spcBef>
                <a:spcPts val="0"/>
              </a:spcBef>
            </a:pPr>
            <a:r>
              <a:rPr lang="en-IN" sz="1800" dirty="0">
                <a:solidFill>
                  <a:schemeClr val="tx1"/>
                </a:solidFill>
                <a:latin typeface="Times New Roman" pitchFamily="18" charset="0"/>
                <a:cs typeface="Times New Roman" pitchFamily="18" charset="0"/>
              </a:rPr>
              <a:t>By</a:t>
            </a:r>
            <a:endParaRPr lang="en-US" sz="1800" dirty="0">
              <a:solidFill>
                <a:schemeClr val="tx1"/>
              </a:solidFill>
              <a:latin typeface="Times New Roman" pitchFamily="18" charset="0"/>
              <a:cs typeface="Times New Roman" pitchFamily="18" charset="0"/>
            </a:endParaRPr>
          </a:p>
          <a:p>
            <a:pPr lvl="0">
              <a:lnSpc>
                <a:spcPts val="3360"/>
              </a:lnSpc>
              <a:spcBef>
                <a:spcPts val="0"/>
              </a:spcBef>
            </a:pPr>
            <a:r>
              <a:rPr lang="en-US" sz="1800" dirty="0">
                <a:solidFill>
                  <a:schemeClr val="tx1"/>
                </a:solidFill>
                <a:latin typeface="Times New Roman" pitchFamily="18" charset="0"/>
                <a:cs typeface="Times New Roman" pitchFamily="18" charset="0"/>
              </a:rPr>
              <a:t>I. Karthik                     	(22481A0581)</a:t>
            </a:r>
          </a:p>
          <a:p>
            <a:pPr lvl="0">
              <a:lnSpc>
                <a:spcPts val="3360"/>
              </a:lnSpc>
              <a:spcBef>
                <a:spcPts val="0"/>
              </a:spcBef>
            </a:pPr>
            <a:r>
              <a:rPr lang="en-US" sz="1800" dirty="0">
                <a:solidFill>
                  <a:schemeClr val="tx1"/>
                </a:solidFill>
                <a:latin typeface="Times New Roman" pitchFamily="18" charset="0"/>
                <a:cs typeface="Times New Roman" pitchFamily="18" charset="0"/>
              </a:rPr>
              <a:t>K. </a:t>
            </a:r>
            <a:r>
              <a:rPr lang="en-US" sz="1800" dirty="0" err="1">
                <a:solidFill>
                  <a:schemeClr val="tx1"/>
                </a:solidFill>
                <a:latin typeface="Times New Roman" pitchFamily="18" charset="0"/>
                <a:cs typeface="Times New Roman" pitchFamily="18" charset="0"/>
              </a:rPr>
              <a:t>Santhosham</a:t>
            </a:r>
            <a:r>
              <a:rPr lang="en-US" sz="1800" dirty="0">
                <a:solidFill>
                  <a:schemeClr val="tx1"/>
                </a:solidFill>
                <a:latin typeface="Times New Roman" pitchFamily="18" charset="0"/>
                <a:cs typeface="Times New Roman" pitchFamily="18" charset="0"/>
              </a:rPr>
              <a:t>            	(22481A0592)  </a:t>
            </a:r>
          </a:p>
          <a:p>
            <a:pPr lvl="0">
              <a:lnSpc>
                <a:spcPts val="3360"/>
              </a:lnSpc>
              <a:spcBef>
                <a:spcPts val="0"/>
              </a:spcBef>
            </a:pPr>
            <a:r>
              <a:rPr lang="en-US" sz="1800" dirty="0">
                <a:solidFill>
                  <a:schemeClr val="tx1"/>
                </a:solidFill>
                <a:latin typeface="Times New Roman" pitchFamily="18" charset="0"/>
                <a:cs typeface="Times New Roman" pitchFamily="18" charset="0"/>
              </a:rPr>
              <a:t>K. Uma Shankar                     	(22481A05B1)</a:t>
            </a:r>
          </a:p>
          <a:p>
            <a:pPr lvl="0">
              <a:lnSpc>
                <a:spcPts val="3360"/>
              </a:lnSpc>
              <a:spcBef>
                <a:spcPts val="0"/>
              </a:spcBef>
            </a:pPr>
            <a:r>
              <a:rPr lang="en-US" sz="1800" dirty="0">
                <a:solidFill>
                  <a:schemeClr val="tx1"/>
                </a:solidFill>
                <a:latin typeface="Times New Roman" pitchFamily="18" charset="0"/>
                <a:cs typeface="Times New Roman" pitchFamily="18" charset="0"/>
              </a:rPr>
              <a:t>K. Karthik Babu                     (22481A05B5)</a:t>
            </a:r>
          </a:p>
          <a:p>
            <a:pPr algn="l"/>
            <a:endParaRPr lang="en-US" sz="1800" dirty="0">
              <a:solidFill>
                <a:schemeClr val="tx1"/>
              </a:solidFill>
              <a:effectLst/>
              <a:latin typeface="Times New Roman" panose="02020603050405020304" pitchFamily="18" charset="0"/>
              <a:ea typeface="Calibri" panose="020F0502020204030204" pitchFamily="34" charset="0"/>
            </a:endParaRPr>
          </a:p>
          <a:p>
            <a:r>
              <a:rPr lang="en-US" altLang="en-US" sz="1800" dirty="0">
                <a:solidFill>
                  <a:schemeClr val="tx1"/>
                </a:solidFill>
                <a:latin typeface="Times New Roman" panose="02020603050405020304" pitchFamily="18" charset="0"/>
                <a:cs typeface="Times New Roman" panose="02020603050405020304" pitchFamily="18" charset="0"/>
              </a:rPr>
              <a:t>Under the guidance of</a:t>
            </a:r>
          </a:p>
          <a:p>
            <a:r>
              <a:rPr lang="en-IN" altLang="en-US" sz="1800" b="1" dirty="0">
                <a:solidFill>
                  <a:schemeClr val="tx1"/>
                </a:solidFill>
                <a:latin typeface="Times New Roman" panose="02020603050405020304" pitchFamily="18" charset="0"/>
                <a:cs typeface="Times New Roman" panose="02020603050405020304" pitchFamily="18" charset="0"/>
              </a:rPr>
              <a:t>P S Ganesh Kumar, </a:t>
            </a:r>
            <a:r>
              <a:rPr lang="en-IN" altLang="en-US" sz="1800" b="1" dirty="0" err="1">
                <a:solidFill>
                  <a:schemeClr val="tx1"/>
                </a:solidFill>
                <a:latin typeface="Times New Roman" panose="02020603050405020304" pitchFamily="18" charset="0"/>
                <a:cs typeface="Times New Roman" panose="02020603050405020304" pitchFamily="18" charset="0"/>
              </a:rPr>
              <a:t>M.Tech</a:t>
            </a:r>
            <a:endParaRPr lang="en-US" altLang="en-US" sz="1800" b="1"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itchFamily="18" charset="0"/>
                <a:cs typeface="Times New Roman" pitchFamily="18" charset="0"/>
              </a:rPr>
              <a:t>Assistant Professor</a:t>
            </a:r>
            <a:r>
              <a:rPr lang="en-US" altLang="en-US" sz="1800" dirty="0">
                <a:solidFill>
                  <a:schemeClr val="tx1"/>
                </a:solidFill>
                <a:latin typeface="Times New Roman" panose="02020603050405020304" pitchFamily="18" charset="0"/>
                <a:cs typeface="Times New Roman" panose="02020603050405020304" pitchFamily="18" charset="0"/>
              </a:rPr>
              <a:t> of Computer Science and Engineering.</a:t>
            </a:r>
          </a:p>
        </p:txBody>
      </p:sp>
      <p:pic>
        <p:nvPicPr>
          <p:cNvPr id="4" name="Picture 3">
            <a:extLst>
              <a:ext uri="{FF2B5EF4-FFF2-40B4-BE49-F238E27FC236}">
                <a16:creationId xmlns:a16="http://schemas.microsoft.com/office/drawing/2014/main" id="{EEAC083D-E0FE-B202-273C-5D57C22D0143}"/>
              </a:ext>
            </a:extLst>
          </p:cNvPr>
          <p:cNvPicPr>
            <a:picLocks noChangeAspect="1"/>
          </p:cNvPicPr>
          <p:nvPr/>
        </p:nvPicPr>
        <p:blipFill>
          <a:blip r:embed="rId2"/>
          <a:stretch>
            <a:fillRect/>
          </a:stretch>
        </p:blipFill>
        <p:spPr>
          <a:xfrm>
            <a:off x="3714744" y="1500174"/>
            <a:ext cx="1643074" cy="164307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0F2FEDE0-FE5D-E854-7911-AC2E483E37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flipH="1">
            <a:off x="1187624" y="2060848"/>
            <a:ext cx="6768752" cy="3807393"/>
          </a:xfrm>
        </p:spPr>
      </p:pic>
      <p:sp>
        <p:nvSpPr>
          <p:cNvPr id="4" name="Title 3">
            <a:extLst>
              <a:ext uri="{FF2B5EF4-FFF2-40B4-BE49-F238E27FC236}">
                <a16:creationId xmlns:a16="http://schemas.microsoft.com/office/drawing/2014/main" id="{F1D7F6B6-7370-472F-B60A-452D73494A78}"/>
              </a:ext>
            </a:extLst>
          </p:cNvPr>
          <p:cNvSpPr>
            <a:spLocks noGrp="1"/>
          </p:cNvSpPr>
          <p:nvPr>
            <p:ph type="title"/>
          </p:nvPr>
        </p:nvSpPr>
        <p:spPr>
          <a:xfrm>
            <a:off x="0" y="418259"/>
            <a:ext cx="9144000" cy="1143000"/>
          </a:xfrm>
        </p:spPr>
        <p:txBody>
          <a:bodyPr>
            <a:noAutofit/>
          </a:bodyPr>
          <a:lstStyle/>
          <a:p>
            <a:r>
              <a:rPr lang="en-IN" sz="2800" b="1" spc="-1" dirty="0">
                <a:latin typeface="Times New Roman" panose="02020603050405020304" pitchFamily="18" charset="0"/>
                <a:ea typeface="Calibri"/>
                <a:cs typeface="Times New Roman" panose="02020603050405020304" pitchFamily="18" charset="0"/>
              </a:rPr>
              <a:t>High-Performance Stroke Prediction Using Categorical Boosting and Explainable Machine Learning Models</a:t>
            </a:r>
            <a:endParaRPr lang="en-IN" sz="2800" dirty="0"/>
          </a:p>
        </p:txBody>
      </p:sp>
    </p:spTree>
    <p:extLst>
      <p:ext uri="{BB962C8B-B14F-4D97-AF65-F5344CB8AC3E}">
        <p14:creationId xmlns:p14="http://schemas.microsoft.com/office/powerpoint/2010/main" val="3553615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086" y="476672"/>
            <a:ext cx="8229600" cy="714380"/>
          </a:xfrm>
        </p:spPr>
        <p:txBody>
          <a:bodyPr>
            <a:normAutofit/>
          </a:bodyPr>
          <a:lstStyle/>
          <a:p>
            <a:r>
              <a:rPr lang="en-IN" sz="3600" b="1" dirty="0">
                <a:latin typeface="Times New Roman" pitchFamily="18" charset="0"/>
                <a:cs typeface="Times New Roman" pitchFamily="18" charset="0"/>
              </a:rPr>
              <a:t>Abstract</a:t>
            </a:r>
            <a:endParaRPr lang="en-US" sz="5400" b="1" dirty="0">
              <a:latin typeface="Times New Roman" pitchFamily="18" charset="0"/>
              <a:cs typeface="Times New Roman" pitchFamily="18" charset="0"/>
            </a:endParaRPr>
          </a:p>
        </p:txBody>
      </p:sp>
      <p:sp>
        <p:nvSpPr>
          <p:cNvPr id="5" name="Rectangle 2">
            <a:extLst>
              <a:ext uri="{FF2B5EF4-FFF2-40B4-BE49-F238E27FC236}">
                <a16:creationId xmlns:a16="http://schemas.microsoft.com/office/drawing/2014/main" id="{6281FB52-BDB9-B1CD-A36D-EA0E5DDC56AB}"/>
              </a:ext>
            </a:extLst>
          </p:cNvPr>
          <p:cNvSpPr>
            <a:spLocks noChangeArrowheads="1"/>
          </p:cNvSpPr>
          <p:nvPr/>
        </p:nvSpPr>
        <p:spPr bwMode="auto">
          <a:xfrm>
            <a:off x="899592" y="1274277"/>
            <a:ext cx="756084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Stroke remains a leading cause of mortality worldwide, making early and accurate prediction crucial for timely medical intervention. However, challenges such as class imbalance in healthcare datasets and limited interpretability of traditional machine learning models reduce their effectiveness in clinical practice. This study proposes an enhanced stroke prediction framework using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CatBoost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ensemble learning integrated with SMOTE to address data imbalance and improve model generalization. The proposed approach achieves 95.38% accuracy, outperforming individual classifiers. Furthermore, Explainable AI techniques provide both global and local insights into feature influence, increasing transparency and supporting clinical decision-making. A secure Flask-based web application enables real-time prediction and user interaction, ensuring the system is practical, scalable, and suitable for healthcare deployment.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F67C3-CD3F-08D6-D2BE-575D8851E844}"/>
              </a:ext>
            </a:extLst>
          </p:cNvPr>
          <p:cNvSpPr>
            <a:spLocks noGrp="1"/>
          </p:cNvSpPr>
          <p:nvPr>
            <p:ph type="title"/>
          </p:nvPr>
        </p:nvSpPr>
        <p:spPr>
          <a:xfrm>
            <a:off x="0" y="458213"/>
            <a:ext cx="9144000" cy="1143000"/>
          </a:xfrm>
        </p:spPr>
        <p:txBody>
          <a:bodyPr>
            <a:normAutofit/>
          </a:bodyPr>
          <a:lstStyle/>
          <a:p>
            <a:r>
              <a:rPr lang="en-US" sz="3600" b="1" dirty="0">
                <a:latin typeface="Times New Roman" panose="02020603050405020304" pitchFamily="18" charset="0"/>
                <a:cs typeface="Times New Roman" panose="02020603050405020304" pitchFamily="18" charset="0"/>
              </a:rPr>
              <a:t>Objectives</a:t>
            </a:r>
            <a:endParaRPr lang="en-IN" sz="3600"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6E6621FB-1012-CC96-2C4C-F8054011B0E4}"/>
              </a:ext>
            </a:extLst>
          </p:cNvPr>
          <p:cNvSpPr>
            <a:spLocks noChangeArrowheads="1"/>
          </p:cNvSpPr>
          <p:nvPr/>
        </p:nvSpPr>
        <p:spPr bwMode="auto">
          <a:xfrm>
            <a:off x="899592" y="1628800"/>
            <a:ext cx="7470211" cy="2535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of an Automated Stroke Prediction System</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Enhancement of Predictive Performance using Ensemble Learning</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Handling Class Imbalance with SMOTE</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of Explainable Artificial Intelligence (XAI)</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Web-Based Deployment using Flask</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Establishment of a Scalable and Clinically Applicable Framework</a:t>
            </a:r>
          </a:p>
        </p:txBody>
      </p:sp>
    </p:spTree>
    <p:extLst>
      <p:ext uri="{BB962C8B-B14F-4D97-AF65-F5344CB8AC3E}">
        <p14:creationId xmlns:p14="http://schemas.microsoft.com/office/powerpoint/2010/main" val="860197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35D94F-A10A-4495-8F6A-C60BD4AD4DF0}"/>
              </a:ext>
            </a:extLst>
          </p:cNvPr>
          <p:cNvSpPr txBox="1"/>
          <p:nvPr/>
        </p:nvSpPr>
        <p:spPr>
          <a:xfrm>
            <a:off x="1763688" y="2019319"/>
            <a:ext cx="5094312" cy="2819362"/>
          </a:xfrm>
          <a:prstGeom prst="rect">
            <a:avLst/>
          </a:prstGeom>
          <a:noFill/>
        </p:spPr>
        <p:txBody>
          <a:bodyPr wrap="square">
            <a:spAutoFit/>
          </a:bodyPr>
          <a:lstStyle/>
          <a:p>
            <a:pPr marL="342900" indent="-342900" algn="just">
              <a:lnSpc>
                <a:spcPct val="150000"/>
              </a:lnSpc>
              <a:spcBef>
                <a:spcPct val="20000"/>
              </a:spcBef>
              <a:buClr>
                <a:schemeClr val="accent1">
                  <a:lumMod val="50000"/>
                </a:schemeClr>
              </a:buClr>
              <a:buFont typeface="Arial" pitchFamily="34" charset="0"/>
              <a:buChar char="•"/>
            </a:pPr>
            <a:r>
              <a:rPr lang="en-US" dirty="0">
                <a:latin typeface="Times New Roman" panose="02020603050405020304" pitchFamily="18" charset="0"/>
                <a:cs typeface="Times New Roman" panose="02020603050405020304" pitchFamily="18" charset="0"/>
              </a:rPr>
              <a:t>Previous works used ML for stroke prediction</a:t>
            </a:r>
          </a:p>
          <a:p>
            <a:pPr marL="342900" indent="-342900" algn="just">
              <a:lnSpc>
                <a:spcPct val="150000"/>
              </a:lnSpc>
              <a:spcBef>
                <a:spcPct val="20000"/>
              </a:spcBef>
              <a:buClr>
                <a:schemeClr val="accent1">
                  <a:lumMod val="50000"/>
                </a:schemeClr>
              </a:buClr>
              <a:buFont typeface="Arial" pitchFamily="34" charset="0"/>
              <a:buChar char="•"/>
            </a:pPr>
            <a:r>
              <a:rPr lang="en-US" dirty="0">
                <a:latin typeface="Times New Roman" panose="02020603050405020304" pitchFamily="18" charset="0"/>
                <a:cs typeface="Times New Roman" panose="02020603050405020304" pitchFamily="18" charset="0"/>
              </a:rPr>
              <a:t>Models: SVM, KNN, Random Forest, </a:t>
            </a:r>
            <a:r>
              <a:rPr lang="en-US" dirty="0" err="1">
                <a:latin typeface="Times New Roman" panose="02020603050405020304" pitchFamily="18" charset="0"/>
                <a:cs typeface="Times New Roman" panose="02020603050405020304" pitchFamily="18" charset="0"/>
              </a:rPr>
              <a:t>XGBoost</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spcBef>
                <a:spcPct val="20000"/>
              </a:spcBef>
              <a:buClr>
                <a:schemeClr val="accent1">
                  <a:lumMod val="50000"/>
                </a:schemeClr>
              </a:buClr>
              <a:buFont typeface="Arial" pitchFamily="34" charset="0"/>
              <a:buChar char="•"/>
            </a:pPr>
            <a:r>
              <a:rPr lang="en-US" dirty="0">
                <a:latin typeface="Times New Roman" panose="02020603050405020304" pitchFamily="18" charset="0"/>
                <a:cs typeface="Times New Roman" panose="02020603050405020304" pitchFamily="18" charset="0"/>
              </a:rPr>
              <a:t>Focus mainly on prediction accuracy</a:t>
            </a:r>
          </a:p>
          <a:p>
            <a:pPr marL="342900" indent="-342900" algn="just">
              <a:lnSpc>
                <a:spcPct val="150000"/>
              </a:lnSpc>
              <a:spcBef>
                <a:spcPct val="20000"/>
              </a:spcBef>
              <a:buClr>
                <a:schemeClr val="accent1">
                  <a:lumMod val="50000"/>
                </a:schemeClr>
              </a:buClr>
              <a:buFont typeface="Arial" pitchFamily="34" charset="0"/>
              <a:buChar char="•"/>
            </a:pPr>
            <a:r>
              <a:rPr lang="en-US" dirty="0">
                <a:latin typeface="Times New Roman" panose="02020603050405020304" pitchFamily="18" charset="0"/>
                <a:cs typeface="Times New Roman" panose="02020603050405020304" pitchFamily="18" charset="0"/>
              </a:rPr>
              <a:t>Used limited medical datasets</a:t>
            </a:r>
          </a:p>
          <a:p>
            <a:pPr marL="342900" indent="-342900" algn="just">
              <a:lnSpc>
                <a:spcPct val="150000"/>
              </a:lnSpc>
              <a:spcBef>
                <a:spcPct val="20000"/>
              </a:spcBef>
              <a:buClr>
                <a:schemeClr val="accent1">
                  <a:lumMod val="50000"/>
                </a:schemeClr>
              </a:buClr>
              <a:buFont typeface="Arial" pitchFamily="34" charset="0"/>
              <a:buChar char="•"/>
            </a:pPr>
            <a:r>
              <a:rPr lang="en-US" dirty="0">
                <a:latin typeface="Times New Roman" panose="02020603050405020304" pitchFamily="18" charset="0"/>
                <a:cs typeface="Times New Roman" panose="02020603050405020304" pitchFamily="18" charset="0"/>
              </a:rPr>
              <a:t>Applied basic preprocessing methods</a:t>
            </a:r>
          </a:p>
          <a:p>
            <a:pPr marL="342900" indent="-342900" algn="just">
              <a:lnSpc>
                <a:spcPct val="150000"/>
              </a:lnSpc>
              <a:spcBef>
                <a:spcPct val="20000"/>
              </a:spcBef>
              <a:buClr>
                <a:schemeClr val="accent1">
                  <a:lumMod val="50000"/>
                </a:schemeClr>
              </a:buClr>
              <a:buFont typeface="Arial" pitchFamily="34" charset="0"/>
              <a:buChar char="•"/>
            </a:pPr>
            <a:r>
              <a:rPr lang="en-US" dirty="0">
                <a:latin typeface="Times New Roman" panose="02020603050405020304" pitchFamily="18" charset="0"/>
                <a:cs typeface="Times New Roman" panose="02020603050405020304" pitchFamily="18" charset="0"/>
              </a:rPr>
              <a:t>Ensemble methods used in few studies</a:t>
            </a:r>
          </a:p>
        </p:txBody>
      </p:sp>
      <p:sp>
        <p:nvSpPr>
          <p:cNvPr id="5" name="TextBox 4">
            <a:extLst>
              <a:ext uri="{FF2B5EF4-FFF2-40B4-BE49-F238E27FC236}">
                <a16:creationId xmlns:a16="http://schemas.microsoft.com/office/drawing/2014/main" id="{5E224F12-F1CD-4D3D-9205-09A9B3BE79F6}"/>
              </a:ext>
            </a:extLst>
          </p:cNvPr>
          <p:cNvSpPr txBox="1"/>
          <p:nvPr/>
        </p:nvSpPr>
        <p:spPr>
          <a:xfrm>
            <a:off x="1331640" y="476672"/>
            <a:ext cx="7128792" cy="1200329"/>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Related Work – Existing Stroke Prediction Systems</a:t>
            </a:r>
          </a:p>
        </p:txBody>
      </p:sp>
    </p:spTree>
    <p:extLst>
      <p:ext uri="{BB962C8B-B14F-4D97-AF65-F5344CB8AC3E}">
        <p14:creationId xmlns:p14="http://schemas.microsoft.com/office/powerpoint/2010/main" val="3625746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E224F12-F1CD-4D3D-9205-09A9B3BE79F6}"/>
              </a:ext>
            </a:extLst>
          </p:cNvPr>
          <p:cNvSpPr txBox="1"/>
          <p:nvPr/>
        </p:nvSpPr>
        <p:spPr>
          <a:xfrm>
            <a:off x="1331640" y="476672"/>
            <a:ext cx="7128792"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Related Work</a:t>
            </a:r>
          </a:p>
        </p:txBody>
      </p:sp>
      <p:sp>
        <p:nvSpPr>
          <p:cNvPr id="4" name="Rectangle 2">
            <a:extLst>
              <a:ext uri="{FF2B5EF4-FFF2-40B4-BE49-F238E27FC236}">
                <a16:creationId xmlns:a16="http://schemas.microsoft.com/office/drawing/2014/main" id="{690898A5-4084-4AC7-9EAC-EEF09D2DE139}"/>
              </a:ext>
            </a:extLst>
          </p:cNvPr>
          <p:cNvSpPr>
            <a:spLocks noChangeArrowheads="1"/>
          </p:cNvSpPr>
          <p:nvPr/>
        </p:nvSpPr>
        <p:spPr bwMode="auto">
          <a:xfrm>
            <a:off x="624947" y="2366705"/>
            <a:ext cx="3681008" cy="2341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indent="-342900" algn="just" fontAlgn="base">
              <a:lnSpc>
                <a:spcPct val="150000"/>
              </a:lnSpc>
              <a:spcBef>
                <a:spcPct val="20000"/>
              </a:spcBef>
              <a:spcAft>
                <a:spcPct val="0"/>
              </a:spcAft>
              <a:buClr>
                <a:schemeClr val="accent1">
                  <a:lumMod val="50000"/>
                </a:schemeClr>
              </a:buClr>
              <a:buFont typeface="Arial" pitchFamily="34" charset="0"/>
              <a:buChar char="•"/>
            </a:pPr>
            <a:r>
              <a:rPr lang="en-US" altLang="en-US" dirty="0">
                <a:latin typeface="Times New Roman" panose="02020603050405020304" pitchFamily="18" charset="0"/>
                <a:cs typeface="Times New Roman" panose="02020603050405020304" pitchFamily="18" charset="0"/>
              </a:rPr>
              <a:t>Lack of model </a:t>
            </a:r>
            <a:r>
              <a:rPr lang="en-US" altLang="en-US" dirty="0" err="1">
                <a:latin typeface="Times New Roman" panose="02020603050405020304" pitchFamily="18" charset="0"/>
                <a:cs typeface="Times New Roman" panose="02020603050405020304" pitchFamily="18" charset="0"/>
              </a:rPr>
              <a:t>explainability</a:t>
            </a:r>
            <a:endParaRPr lang="en-US" altLang="en-US" dirty="0">
              <a:latin typeface="Times New Roman" panose="02020603050405020304" pitchFamily="18" charset="0"/>
              <a:cs typeface="Times New Roman" panose="02020603050405020304" pitchFamily="18" charset="0"/>
            </a:endParaRPr>
          </a:p>
          <a:p>
            <a:pPr marL="342900" marR="0" lvl="0" indent="-342900" algn="just" fontAlgn="base">
              <a:lnSpc>
                <a:spcPct val="150000"/>
              </a:lnSpc>
              <a:spcBef>
                <a:spcPct val="20000"/>
              </a:spcBef>
              <a:spcAft>
                <a:spcPct val="0"/>
              </a:spcAft>
              <a:buClr>
                <a:schemeClr val="accent1">
                  <a:lumMod val="50000"/>
                </a:schemeClr>
              </a:buClr>
              <a:buSzTx/>
              <a:buFont typeface="Arial" pitchFamily="34" charset="0"/>
              <a:buChar char="•"/>
              <a:tabLst/>
            </a:pPr>
            <a:r>
              <a:rPr lang="en-US" altLang="en-US" dirty="0">
                <a:latin typeface="Times New Roman" panose="02020603050405020304" pitchFamily="18" charset="0"/>
                <a:cs typeface="Times New Roman" panose="02020603050405020304" pitchFamily="18" charset="0"/>
              </a:rPr>
              <a:t>Limited use of SHAP / XAI tools</a:t>
            </a:r>
          </a:p>
          <a:p>
            <a:pPr marL="342900" marR="0" lvl="0" indent="-342900" algn="just" fontAlgn="base">
              <a:lnSpc>
                <a:spcPct val="150000"/>
              </a:lnSpc>
              <a:spcBef>
                <a:spcPct val="20000"/>
              </a:spcBef>
              <a:spcAft>
                <a:spcPct val="0"/>
              </a:spcAft>
              <a:buClr>
                <a:schemeClr val="accent1">
                  <a:lumMod val="50000"/>
                </a:schemeClr>
              </a:buClr>
              <a:buSzTx/>
              <a:buFont typeface="Arial" pitchFamily="34" charset="0"/>
              <a:buChar char="•"/>
              <a:tabLst/>
            </a:pPr>
            <a:r>
              <a:rPr lang="en-US" altLang="en-US" dirty="0">
                <a:latin typeface="Times New Roman" panose="02020603050405020304" pitchFamily="18" charset="0"/>
                <a:cs typeface="Times New Roman" panose="02020603050405020304" pitchFamily="18" charset="0"/>
              </a:rPr>
              <a:t>No real-time prediction systems</a:t>
            </a:r>
          </a:p>
          <a:p>
            <a:pPr marL="342900" marR="0" lvl="0" indent="-342900" algn="just" fontAlgn="base">
              <a:lnSpc>
                <a:spcPct val="150000"/>
              </a:lnSpc>
              <a:spcBef>
                <a:spcPct val="20000"/>
              </a:spcBef>
              <a:spcAft>
                <a:spcPct val="0"/>
              </a:spcAft>
              <a:buClr>
                <a:schemeClr val="accent1">
                  <a:lumMod val="50000"/>
                </a:schemeClr>
              </a:buClr>
              <a:buSzTx/>
              <a:buFont typeface="Arial" pitchFamily="34" charset="0"/>
              <a:buChar char="•"/>
              <a:tabLst/>
            </a:pPr>
            <a:r>
              <a:rPr lang="en-US" altLang="en-US" dirty="0">
                <a:latin typeface="Times New Roman" panose="02020603050405020304" pitchFamily="18" charset="0"/>
                <a:cs typeface="Times New Roman" panose="02020603050405020304" pitchFamily="18" charset="0"/>
              </a:rPr>
              <a:t>Poor generalization on new data</a:t>
            </a:r>
          </a:p>
          <a:p>
            <a:pPr marL="342900" marR="0" lvl="0" indent="-342900" algn="just" fontAlgn="base">
              <a:lnSpc>
                <a:spcPct val="150000"/>
              </a:lnSpc>
              <a:spcBef>
                <a:spcPct val="20000"/>
              </a:spcBef>
              <a:spcAft>
                <a:spcPct val="0"/>
              </a:spcAft>
              <a:buClr>
                <a:schemeClr val="accent1">
                  <a:lumMod val="50000"/>
                </a:schemeClr>
              </a:buClr>
              <a:buSzTx/>
              <a:buFont typeface="Arial" pitchFamily="34" charset="0"/>
              <a:buChar char="•"/>
              <a:tabLst/>
            </a:pPr>
            <a:r>
              <a:rPr lang="en-US" altLang="en-US" dirty="0">
                <a:latin typeface="Times New Roman" panose="02020603050405020304" pitchFamily="18" charset="0"/>
                <a:cs typeface="Times New Roman" panose="02020603050405020304" pitchFamily="18" charset="0"/>
              </a:rPr>
              <a:t>Limited user-friendly applications</a:t>
            </a:r>
          </a:p>
        </p:txBody>
      </p:sp>
      <p:sp>
        <p:nvSpPr>
          <p:cNvPr id="8" name="TextBox 7">
            <a:extLst>
              <a:ext uri="{FF2B5EF4-FFF2-40B4-BE49-F238E27FC236}">
                <a16:creationId xmlns:a16="http://schemas.microsoft.com/office/drawing/2014/main" id="{36254D7A-5FAC-4F45-9863-C94F39A89301}"/>
              </a:ext>
            </a:extLst>
          </p:cNvPr>
          <p:cNvSpPr txBox="1"/>
          <p:nvPr/>
        </p:nvSpPr>
        <p:spPr>
          <a:xfrm>
            <a:off x="5148064" y="2368244"/>
            <a:ext cx="3888432" cy="2340128"/>
          </a:xfrm>
          <a:prstGeom prst="rect">
            <a:avLst/>
          </a:prstGeom>
          <a:noFill/>
        </p:spPr>
        <p:txBody>
          <a:bodyPr wrap="square">
            <a:spAutoFit/>
          </a:bodyPr>
          <a:lstStyle/>
          <a:p>
            <a:pPr marL="342900" marR="0" lvl="0" indent="-342900" algn="just" fontAlgn="base">
              <a:lnSpc>
                <a:spcPct val="150000"/>
              </a:lnSpc>
              <a:spcBef>
                <a:spcPct val="20000"/>
              </a:spcBef>
              <a:spcAft>
                <a:spcPct val="0"/>
              </a:spcAft>
              <a:buClr>
                <a:schemeClr val="accent1">
                  <a:lumMod val="50000"/>
                </a:schemeClr>
              </a:buClr>
              <a:buSzTx/>
              <a:buFont typeface="Arial" pitchFamily="34" charset="0"/>
              <a:buChar char="•"/>
              <a:tabLst/>
            </a:pPr>
            <a:r>
              <a:rPr lang="en-US" altLang="en-US" dirty="0">
                <a:latin typeface="Times New Roman" panose="02020603050405020304" pitchFamily="18" charset="0"/>
                <a:cs typeface="Times New Roman" panose="02020603050405020304" pitchFamily="18" charset="0"/>
              </a:rPr>
              <a:t>Explainable AI integration</a:t>
            </a:r>
          </a:p>
          <a:p>
            <a:pPr marL="342900" marR="0" lvl="0" indent="-342900" algn="just" fontAlgn="base">
              <a:lnSpc>
                <a:spcPct val="150000"/>
              </a:lnSpc>
              <a:spcBef>
                <a:spcPct val="20000"/>
              </a:spcBef>
              <a:spcAft>
                <a:spcPct val="0"/>
              </a:spcAft>
              <a:buClr>
                <a:schemeClr val="accent1">
                  <a:lumMod val="50000"/>
                </a:schemeClr>
              </a:buClr>
              <a:buSzTx/>
              <a:buFont typeface="Arial" pitchFamily="34" charset="0"/>
              <a:buChar char="•"/>
              <a:tabLst/>
            </a:pPr>
            <a:r>
              <a:rPr lang="en-US" altLang="en-US" dirty="0">
                <a:latin typeface="Times New Roman" panose="02020603050405020304" pitchFamily="18" charset="0"/>
                <a:cs typeface="Times New Roman" panose="02020603050405020304" pitchFamily="18" charset="0"/>
              </a:rPr>
              <a:t>Multiple model comparison</a:t>
            </a:r>
          </a:p>
          <a:p>
            <a:pPr marL="342900" marR="0" lvl="0" indent="-342900" algn="just" fontAlgn="base">
              <a:lnSpc>
                <a:spcPct val="150000"/>
              </a:lnSpc>
              <a:spcBef>
                <a:spcPct val="20000"/>
              </a:spcBef>
              <a:spcAft>
                <a:spcPct val="0"/>
              </a:spcAft>
              <a:buClr>
                <a:schemeClr val="accent1">
                  <a:lumMod val="50000"/>
                </a:schemeClr>
              </a:buClr>
              <a:buSzTx/>
              <a:buFont typeface="Arial" pitchFamily="34" charset="0"/>
              <a:buChar char="•"/>
              <a:tabLst/>
            </a:pPr>
            <a:r>
              <a:rPr lang="en-US" altLang="en-US" dirty="0">
                <a:latin typeface="Times New Roman" panose="02020603050405020304" pitchFamily="18" charset="0"/>
                <a:cs typeface="Times New Roman" panose="02020603050405020304" pitchFamily="18" charset="0"/>
              </a:rPr>
              <a:t>SMOTE for balancing</a:t>
            </a:r>
          </a:p>
          <a:p>
            <a:pPr marL="342900" marR="0" lvl="0" indent="-342900" algn="just" fontAlgn="base">
              <a:lnSpc>
                <a:spcPct val="150000"/>
              </a:lnSpc>
              <a:spcBef>
                <a:spcPct val="20000"/>
              </a:spcBef>
              <a:spcAft>
                <a:spcPct val="0"/>
              </a:spcAft>
              <a:buClr>
                <a:schemeClr val="accent1">
                  <a:lumMod val="50000"/>
                </a:schemeClr>
              </a:buClr>
              <a:buSzTx/>
              <a:buFont typeface="Arial" pitchFamily="34" charset="0"/>
              <a:buChar char="•"/>
              <a:tabLst/>
            </a:pPr>
            <a:r>
              <a:rPr lang="en-US" altLang="en-US" dirty="0">
                <a:latin typeface="Times New Roman" panose="02020603050405020304" pitchFamily="18" charset="0"/>
                <a:cs typeface="Times New Roman" panose="02020603050405020304" pitchFamily="18" charset="0"/>
              </a:rPr>
              <a:t>Flask-based web system</a:t>
            </a:r>
          </a:p>
          <a:p>
            <a:pPr marL="342900" marR="0" lvl="0" indent="-342900" algn="just" fontAlgn="base">
              <a:lnSpc>
                <a:spcPct val="150000"/>
              </a:lnSpc>
              <a:spcBef>
                <a:spcPct val="20000"/>
              </a:spcBef>
              <a:spcAft>
                <a:spcPct val="0"/>
              </a:spcAft>
              <a:buClr>
                <a:schemeClr val="accent1">
                  <a:lumMod val="50000"/>
                </a:schemeClr>
              </a:buClr>
              <a:buSzTx/>
              <a:buFont typeface="Arial" pitchFamily="34" charset="0"/>
              <a:buChar char="•"/>
              <a:tabLst/>
            </a:pPr>
            <a:r>
              <a:rPr lang="en-US" altLang="en-US" dirty="0">
                <a:latin typeface="Times New Roman" panose="02020603050405020304" pitchFamily="18" charset="0"/>
                <a:cs typeface="Times New Roman" panose="02020603050405020304" pitchFamily="18" charset="0"/>
              </a:rPr>
              <a:t>Higher accuracy (95.38%)</a:t>
            </a:r>
          </a:p>
        </p:txBody>
      </p:sp>
      <p:sp>
        <p:nvSpPr>
          <p:cNvPr id="10" name="TextBox 9">
            <a:extLst>
              <a:ext uri="{FF2B5EF4-FFF2-40B4-BE49-F238E27FC236}">
                <a16:creationId xmlns:a16="http://schemas.microsoft.com/office/drawing/2014/main" id="{BF12426D-1983-4CAF-9313-B356F7941A21}"/>
              </a:ext>
            </a:extLst>
          </p:cNvPr>
          <p:cNvSpPr txBox="1"/>
          <p:nvPr/>
        </p:nvSpPr>
        <p:spPr>
          <a:xfrm>
            <a:off x="611560" y="1772816"/>
            <a:ext cx="3536992" cy="430887"/>
          </a:xfrm>
          <a:prstGeom prst="rect">
            <a:avLst/>
          </a:prstGeom>
          <a:noFill/>
        </p:spPr>
        <p:txBody>
          <a:bodyPr wrap="square">
            <a:spAutoFit/>
          </a:bodyPr>
          <a:lstStyle/>
          <a:p>
            <a:pPr algn="ctr"/>
            <a:r>
              <a:rPr lang="en-IN" sz="2200" b="1" dirty="0">
                <a:latin typeface="Times New Roman" panose="02020603050405020304" pitchFamily="18" charset="0"/>
                <a:cs typeface="Times New Roman" panose="02020603050405020304" pitchFamily="18" charset="0"/>
              </a:rPr>
              <a:t>Gaps in Existing Systems </a:t>
            </a:r>
            <a:endParaRPr lang="en-IN" sz="2200" dirty="0"/>
          </a:p>
        </p:txBody>
      </p:sp>
      <p:sp>
        <p:nvSpPr>
          <p:cNvPr id="12" name="TextBox 11">
            <a:extLst>
              <a:ext uri="{FF2B5EF4-FFF2-40B4-BE49-F238E27FC236}">
                <a16:creationId xmlns:a16="http://schemas.microsoft.com/office/drawing/2014/main" id="{1C22FBF9-BD24-4F3A-A222-52446064776C}"/>
              </a:ext>
            </a:extLst>
          </p:cNvPr>
          <p:cNvSpPr txBox="1"/>
          <p:nvPr/>
        </p:nvSpPr>
        <p:spPr>
          <a:xfrm>
            <a:off x="5292080" y="1803594"/>
            <a:ext cx="2736304" cy="430887"/>
          </a:xfrm>
          <a:prstGeom prst="rect">
            <a:avLst/>
          </a:prstGeom>
          <a:noFill/>
        </p:spPr>
        <p:txBody>
          <a:bodyPr wrap="square">
            <a:spAutoFit/>
          </a:bodyPr>
          <a:lstStyle/>
          <a:p>
            <a:pPr algn="ctr"/>
            <a:r>
              <a:rPr lang="en-IN" sz="2200" b="1" dirty="0">
                <a:latin typeface="Times New Roman" panose="02020603050405020304" pitchFamily="18" charset="0"/>
                <a:cs typeface="Times New Roman" panose="02020603050405020304" pitchFamily="18" charset="0"/>
              </a:rPr>
              <a:t>Our improvement</a:t>
            </a:r>
            <a:endParaRPr lang="en-IN" sz="2200" dirty="0"/>
          </a:p>
        </p:txBody>
      </p:sp>
    </p:spTree>
    <p:extLst>
      <p:ext uri="{BB962C8B-B14F-4D97-AF65-F5344CB8AC3E}">
        <p14:creationId xmlns:p14="http://schemas.microsoft.com/office/powerpoint/2010/main" val="2121237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7975" y="579752"/>
            <a:ext cx="8229600" cy="662533"/>
          </a:xfrm>
        </p:spPr>
        <p:txBody>
          <a:bodyPr>
            <a:normAutofit/>
          </a:bodyPr>
          <a:lstStyle/>
          <a:p>
            <a:r>
              <a:rPr lang="en-US" sz="3600" b="1" dirty="0">
                <a:latin typeface="Times New Roman" pitchFamily="18" charset="0"/>
                <a:cs typeface="Times New Roman" pitchFamily="18" charset="0"/>
              </a:rPr>
              <a:t>Proposed System</a:t>
            </a:r>
          </a:p>
        </p:txBody>
      </p:sp>
      <p:sp>
        <p:nvSpPr>
          <p:cNvPr id="6146" name="AutoShape 2" descr="THE POWER OF AN ACTION PLAN. What's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74126EC7-BDD7-CF0F-5B31-8F51C572D10D}"/>
              </a:ext>
            </a:extLst>
          </p:cNvPr>
          <p:cNvSpPr txBox="1"/>
          <p:nvPr/>
        </p:nvSpPr>
        <p:spPr>
          <a:xfrm>
            <a:off x="611560" y="1661699"/>
            <a:ext cx="7848872" cy="2949525"/>
          </a:xfrm>
          <a:prstGeom prst="rect">
            <a:avLst/>
          </a:prstGeom>
          <a:noFill/>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Goal: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Accurate, interpretable, and deployable stroke risk prediction</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Preprocessed clinical data, SMOTE for class imbalance</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Base classifiers (NB, LR, KNN, SVM, RF,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CatBoost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Ensemble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Explainability: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SHAP highlights key risk factors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Deployment: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Secure Flask web app for real-time predictions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95.38% accuracy</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C4276E-B55A-46B1-BBE8-75A715B0DE1B}"/>
              </a:ext>
            </a:extLst>
          </p:cNvPr>
          <p:cNvSpPr txBox="1"/>
          <p:nvPr/>
        </p:nvSpPr>
        <p:spPr>
          <a:xfrm>
            <a:off x="0" y="692696"/>
            <a:ext cx="914400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Methodology</a:t>
            </a:r>
            <a:endParaRPr lang="en-IN" sz="36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6259761-E0C8-43BA-B7C1-8805F8E20378}"/>
              </a:ext>
            </a:extLst>
          </p:cNvPr>
          <p:cNvSpPr txBox="1"/>
          <p:nvPr/>
        </p:nvSpPr>
        <p:spPr>
          <a:xfrm>
            <a:off x="971600" y="1412776"/>
            <a:ext cx="4572000" cy="461305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Collect and explore stroke dataset</a:t>
            </a:r>
          </a:p>
          <a:p>
            <a:pPr marL="34290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Import required libraries</a:t>
            </a:r>
          </a:p>
          <a:p>
            <a:pPr marL="34290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Remove missing values</a:t>
            </a:r>
          </a:p>
          <a:p>
            <a:pPr marL="34290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Perform label encoding</a:t>
            </a:r>
          </a:p>
          <a:p>
            <a:pPr marL="34290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Normalize data</a:t>
            </a:r>
          </a:p>
          <a:p>
            <a:pPr marL="34290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Visualize data using Seaborn &amp; Matplotlib</a:t>
            </a:r>
          </a:p>
          <a:p>
            <a:pPr marL="34290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Handle class imbalance using SMOTE</a:t>
            </a:r>
          </a:p>
          <a:p>
            <a:pPr marL="34290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Select important features (</a:t>
            </a:r>
            <a:r>
              <a:rPr lang="en-IN" dirty="0" err="1">
                <a:latin typeface="Times New Roman" panose="02020603050405020304" pitchFamily="18" charset="0"/>
                <a:cs typeface="Times New Roman" panose="02020603050405020304" pitchFamily="18" charset="0"/>
              </a:rPr>
              <a:t>SelectKBest</a:t>
            </a:r>
            <a:r>
              <a:rPr lang="en-IN" dirty="0">
                <a:latin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Prepare feature set (X) and target (y)</a:t>
            </a:r>
          </a:p>
          <a:p>
            <a:pPr marL="34290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Split data into training and testing sets</a:t>
            </a:r>
          </a:p>
          <a:p>
            <a:pPr marL="34290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Build and train ML models</a:t>
            </a:r>
          </a:p>
        </p:txBody>
      </p:sp>
    </p:spTree>
    <p:extLst>
      <p:ext uri="{BB962C8B-B14F-4D97-AF65-F5344CB8AC3E}">
        <p14:creationId xmlns:p14="http://schemas.microsoft.com/office/powerpoint/2010/main" val="71223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C4276E-B55A-46B1-BBE8-75A715B0DE1B}"/>
              </a:ext>
            </a:extLst>
          </p:cNvPr>
          <p:cNvSpPr txBox="1"/>
          <p:nvPr/>
        </p:nvSpPr>
        <p:spPr>
          <a:xfrm>
            <a:off x="0" y="692696"/>
            <a:ext cx="914400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Implementation</a:t>
            </a:r>
            <a:endParaRPr lang="en-IN" sz="36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1B6349C-4CA9-4B8D-9311-02F669657F73}"/>
              </a:ext>
            </a:extLst>
          </p:cNvPr>
          <p:cNvSpPr txBox="1"/>
          <p:nvPr/>
        </p:nvSpPr>
        <p:spPr>
          <a:xfrm>
            <a:off x="1043608" y="1556792"/>
            <a:ext cx="5544616" cy="4196020"/>
          </a:xfrm>
          <a:prstGeom prst="rect">
            <a:avLst/>
          </a:prstGeom>
          <a:noFill/>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ML models using Python</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 models on prepared dataset</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 model performance</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Select best-performing model</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 trained model into Flask application</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SQLite database for signup &amp;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signin</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Accept user input (clinical features)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Preprocess input data</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trained model for prediction</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 stroke risk result on frontend</a:t>
            </a:r>
          </a:p>
        </p:txBody>
      </p:sp>
    </p:spTree>
    <p:extLst>
      <p:ext uri="{BB962C8B-B14F-4D97-AF65-F5344CB8AC3E}">
        <p14:creationId xmlns:p14="http://schemas.microsoft.com/office/powerpoint/2010/main" val="3000840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36D9A-E6F4-6225-9E4C-B3FED192134D}"/>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Stroke Dataset</a:t>
            </a:r>
            <a:endParaRPr lang="en-IN" sz="4000" dirty="0">
              <a:latin typeface="Times New Roman" panose="02020603050405020304" pitchFamily="18" charset="0"/>
              <a:cs typeface="Times New Roman" panose="02020603050405020304" pitchFamily="18" charset="0"/>
            </a:endParaRPr>
          </a:p>
        </p:txBody>
      </p:sp>
      <p:pic>
        <p:nvPicPr>
          <p:cNvPr id="4" name="Content Placeholder 4">
            <a:extLst>
              <a:ext uri="{FF2B5EF4-FFF2-40B4-BE49-F238E27FC236}">
                <a16:creationId xmlns:a16="http://schemas.microsoft.com/office/drawing/2014/main" id="{9E215753-3897-BA7B-1A7A-B1781212326E}"/>
              </a:ext>
            </a:extLst>
          </p:cNvPr>
          <p:cNvPicPr>
            <a:picLocks noGrp="1" noChangeAspect="1"/>
          </p:cNvPicPr>
          <p:nvPr>
            <p:ph idx="1"/>
          </p:nvPr>
        </p:nvPicPr>
        <p:blipFill>
          <a:blip r:embed="rId2"/>
          <a:stretch>
            <a:fillRect/>
          </a:stretch>
        </p:blipFill>
        <p:spPr>
          <a:xfrm>
            <a:off x="457200" y="1772816"/>
            <a:ext cx="8351206" cy="3816424"/>
          </a:xfrm>
          <a:prstGeom prst="rect">
            <a:avLst/>
          </a:prstGeom>
        </p:spPr>
      </p:pic>
    </p:spTree>
    <p:extLst>
      <p:ext uri="{BB962C8B-B14F-4D97-AF65-F5344CB8AC3E}">
        <p14:creationId xmlns:p14="http://schemas.microsoft.com/office/powerpoint/2010/main" val="3510310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8141FE-9A17-48C4-8AD5-8B1D02AA57DA}"/>
              </a:ext>
            </a:extLst>
          </p:cNvPr>
          <p:cNvSpPr txBox="1"/>
          <p:nvPr/>
        </p:nvSpPr>
        <p:spPr>
          <a:xfrm>
            <a:off x="0" y="548680"/>
            <a:ext cx="914400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Results</a:t>
            </a:r>
            <a:endParaRPr lang="en-IN" sz="3600" b="1"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9E29267-B0A3-4492-8CF6-7B538232FB86}"/>
              </a:ext>
            </a:extLst>
          </p:cNvPr>
          <p:cNvGraphicFramePr>
            <a:graphicFrameLocks noGrp="1"/>
          </p:cNvGraphicFramePr>
          <p:nvPr>
            <p:extLst>
              <p:ext uri="{D42A27DB-BD31-4B8C-83A1-F6EECF244321}">
                <p14:modId xmlns:p14="http://schemas.microsoft.com/office/powerpoint/2010/main" val="2743931686"/>
              </p:ext>
            </p:extLst>
          </p:nvPr>
        </p:nvGraphicFramePr>
        <p:xfrm>
          <a:off x="827584" y="1556792"/>
          <a:ext cx="7776865" cy="3474720"/>
        </p:xfrm>
        <a:graphic>
          <a:graphicData uri="http://schemas.openxmlformats.org/drawingml/2006/table">
            <a:tbl>
              <a:tblPr>
                <a:tableStyleId>{7E9639D4-E3E2-4D34-9284-5A2195B3D0D7}</a:tableStyleId>
              </a:tblPr>
              <a:tblGrid>
                <a:gridCol w="1555373">
                  <a:extLst>
                    <a:ext uri="{9D8B030D-6E8A-4147-A177-3AD203B41FA5}">
                      <a16:colId xmlns:a16="http://schemas.microsoft.com/office/drawing/2014/main" val="929916225"/>
                    </a:ext>
                  </a:extLst>
                </a:gridCol>
                <a:gridCol w="1555373">
                  <a:extLst>
                    <a:ext uri="{9D8B030D-6E8A-4147-A177-3AD203B41FA5}">
                      <a16:colId xmlns:a16="http://schemas.microsoft.com/office/drawing/2014/main" val="3310449000"/>
                    </a:ext>
                  </a:extLst>
                </a:gridCol>
                <a:gridCol w="1555373">
                  <a:extLst>
                    <a:ext uri="{9D8B030D-6E8A-4147-A177-3AD203B41FA5}">
                      <a16:colId xmlns:a16="http://schemas.microsoft.com/office/drawing/2014/main" val="2484540563"/>
                    </a:ext>
                  </a:extLst>
                </a:gridCol>
                <a:gridCol w="1555373">
                  <a:extLst>
                    <a:ext uri="{9D8B030D-6E8A-4147-A177-3AD203B41FA5}">
                      <a16:colId xmlns:a16="http://schemas.microsoft.com/office/drawing/2014/main" val="1580559071"/>
                    </a:ext>
                  </a:extLst>
                </a:gridCol>
                <a:gridCol w="1555373">
                  <a:extLst>
                    <a:ext uri="{9D8B030D-6E8A-4147-A177-3AD203B41FA5}">
                      <a16:colId xmlns:a16="http://schemas.microsoft.com/office/drawing/2014/main" val="2368813483"/>
                    </a:ext>
                  </a:extLst>
                </a:gridCol>
              </a:tblGrid>
              <a:tr h="356250">
                <a:tc>
                  <a:txBody>
                    <a:bodyPr/>
                    <a:lstStyle/>
                    <a:p>
                      <a:r>
                        <a:rPr lang="en-IN" dirty="0">
                          <a:latin typeface="Times New Roman" panose="02020603050405020304" pitchFamily="18" charset="0"/>
                          <a:cs typeface="Times New Roman" panose="02020603050405020304" pitchFamily="18" charset="0"/>
                        </a:rPr>
                        <a:t>Algorithm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a:latin typeface="Times New Roman" panose="02020603050405020304" pitchFamily="18" charset="0"/>
                          <a:cs typeface="Times New Roman" panose="02020603050405020304" pitchFamily="18" charset="0"/>
                        </a:rPr>
                        <a:t>Precision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a:latin typeface="Times New Roman" panose="02020603050405020304" pitchFamily="18" charset="0"/>
                          <a:cs typeface="Times New Roman" panose="02020603050405020304" pitchFamily="18" charset="0"/>
                        </a:rPr>
                        <a:t>Recall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a:latin typeface="Times New Roman" panose="02020603050405020304" pitchFamily="18" charset="0"/>
                          <a:cs typeface="Times New Roman" panose="02020603050405020304" pitchFamily="18" charset="0"/>
                        </a:rPr>
                        <a:t>F1-Score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IN" dirty="0">
                          <a:latin typeface="Times New Roman" panose="02020603050405020304" pitchFamily="18" charset="0"/>
                          <a:cs typeface="Times New Roman" panose="02020603050405020304" pitchFamily="18" charset="0"/>
                        </a:rPr>
                        <a:t>Accuracy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8086152"/>
                  </a:ext>
                </a:extLst>
              </a:tr>
              <a:tr h="623438">
                <a:tc>
                  <a:txBody>
                    <a:bodyPr/>
                    <a:lstStyle/>
                    <a:p>
                      <a:r>
                        <a:rPr lang="en-IN">
                          <a:latin typeface="Times New Roman" panose="02020603050405020304" pitchFamily="18" charset="0"/>
                          <a:cs typeface="Times New Roman" panose="02020603050405020304" pitchFamily="18" charset="0"/>
                        </a:rPr>
                        <a:t>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atin typeface="Times New Roman" panose="02020603050405020304" pitchFamily="18" charset="0"/>
                          <a:cs typeface="Times New Roman" panose="02020603050405020304" pitchFamily="18" charset="0"/>
                        </a:rPr>
                        <a:t>93.53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atin typeface="Times New Roman" panose="02020603050405020304" pitchFamily="18" charset="0"/>
                          <a:cs typeface="Times New Roman" panose="02020603050405020304" pitchFamily="18" charset="0"/>
                        </a:rPr>
                        <a:t>93.47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atin typeface="Times New Roman" panose="02020603050405020304" pitchFamily="18" charset="0"/>
                          <a:cs typeface="Times New Roman" panose="02020603050405020304" pitchFamily="18" charset="0"/>
                        </a:rPr>
                        <a:t>93.47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atin typeface="Times New Roman" panose="02020603050405020304" pitchFamily="18" charset="0"/>
                          <a:cs typeface="Times New Roman" panose="02020603050405020304" pitchFamily="18" charset="0"/>
                        </a:rPr>
                        <a:t>93.47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8259956"/>
                  </a:ext>
                </a:extLst>
              </a:tr>
              <a:tr h="623438">
                <a:tc>
                  <a:txBody>
                    <a:bodyPr/>
                    <a:lstStyle/>
                    <a:p>
                      <a:r>
                        <a:rPr lang="en-IN">
                          <a:latin typeface="Times New Roman" panose="02020603050405020304" pitchFamily="18" charset="0"/>
                          <a:cs typeface="Times New Roman" panose="02020603050405020304" pitchFamily="18" charset="0"/>
                        </a:rPr>
                        <a:t>Logistic Regression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atin typeface="Times New Roman" panose="02020603050405020304" pitchFamily="18" charset="0"/>
                          <a:cs typeface="Times New Roman" panose="02020603050405020304" pitchFamily="18" charset="0"/>
                        </a:rPr>
                        <a:t>78.19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atin typeface="Times New Roman" panose="02020603050405020304" pitchFamily="18" charset="0"/>
                          <a:cs typeface="Times New Roman" panose="02020603050405020304" pitchFamily="18" charset="0"/>
                        </a:rPr>
                        <a:t>77.89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atin typeface="Times New Roman" panose="02020603050405020304" pitchFamily="18" charset="0"/>
                          <a:cs typeface="Times New Roman" panose="02020603050405020304" pitchFamily="18" charset="0"/>
                        </a:rPr>
                        <a:t>77.83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atin typeface="Times New Roman" panose="02020603050405020304" pitchFamily="18" charset="0"/>
                          <a:cs typeface="Times New Roman" panose="02020603050405020304" pitchFamily="18" charset="0"/>
                        </a:rPr>
                        <a:t>77.89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8254386"/>
                  </a:ext>
                </a:extLst>
              </a:tr>
              <a:tr h="356250">
                <a:tc>
                  <a:txBody>
                    <a:bodyPr/>
                    <a:lstStyle/>
                    <a:p>
                      <a:r>
                        <a:rPr lang="en-IN">
                          <a:latin typeface="Times New Roman" panose="02020603050405020304" pitchFamily="18" charset="0"/>
                          <a:cs typeface="Times New Roman" panose="02020603050405020304" pitchFamily="18" charset="0"/>
                        </a:rPr>
                        <a:t>SVM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atin typeface="Times New Roman" panose="02020603050405020304" pitchFamily="18" charset="0"/>
                          <a:cs typeface="Times New Roman" panose="02020603050405020304" pitchFamily="18" charset="0"/>
                        </a:rPr>
                        <a:t>80.87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atin typeface="Times New Roman" panose="02020603050405020304" pitchFamily="18" charset="0"/>
                          <a:cs typeface="Times New Roman" panose="02020603050405020304" pitchFamily="18" charset="0"/>
                        </a:rPr>
                        <a:t>80.15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atin typeface="Times New Roman" panose="02020603050405020304" pitchFamily="18" charset="0"/>
                          <a:cs typeface="Times New Roman" panose="02020603050405020304" pitchFamily="18" charset="0"/>
                        </a:rPr>
                        <a:t>80.04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atin typeface="Times New Roman" panose="02020603050405020304" pitchFamily="18" charset="0"/>
                          <a:cs typeface="Times New Roman" panose="02020603050405020304" pitchFamily="18" charset="0"/>
                        </a:rPr>
                        <a:t>80.15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687756"/>
                  </a:ext>
                </a:extLst>
              </a:tr>
              <a:tr h="356250">
                <a:tc>
                  <a:txBody>
                    <a:bodyPr/>
                    <a:lstStyle/>
                    <a:p>
                      <a:r>
                        <a:rPr lang="en-IN">
                          <a:latin typeface="Times New Roman" panose="02020603050405020304" pitchFamily="18" charset="0"/>
                          <a:cs typeface="Times New Roman" panose="02020603050405020304" pitchFamily="18" charset="0"/>
                        </a:rPr>
                        <a:t>KNN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atin typeface="Times New Roman" panose="02020603050405020304" pitchFamily="18" charset="0"/>
                          <a:cs typeface="Times New Roman" panose="02020603050405020304" pitchFamily="18" charset="0"/>
                        </a:rPr>
                        <a:t>90.64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atin typeface="Times New Roman" panose="02020603050405020304" pitchFamily="18" charset="0"/>
                          <a:cs typeface="Times New Roman" panose="02020603050405020304" pitchFamily="18" charset="0"/>
                        </a:rPr>
                        <a:t>90.64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atin typeface="Times New Roman" panose="02020603050405020304" pitchFamily="18" charset="0"/>
                          <a:cs typeface="Times New Roman" panose="02020603050405020304" pitchFamily="18" charset="0"/>
                        </a:rPr>
                        <a:t>90.64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atin typeface="Times New Roman" panose="02020603050405020304" pitchFamily="18" charset="0"/>
                          <a:cs typeface="Times New Roman" panose="02020603050405020304" pitchFamily="18" charset="0"/>
                        </a:rPr>
                        <a:t>90.64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1560928"/>
                  </a:ext>
                </a:extLst>
              </a:tr>
              <a:tr h="356250">
                <a:tc>
                  <a:txBody>
                    <a:bodyPr/>
                    <a:lstStyle/>
                    <a:p>
                      <a:r>
                        <a:rPr lang="en-IN">
                          <a:latin typeface="Times New Roman" panose="02020603050405020304" pitchFamily="18" charset="0"/>
                          <a:cs typeface="Times New Roman" panose="02020603050405020304" pitchFamily="18" charset="0"/>
                        </a:rPr>
                        <a:t>Naïve Bayes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atin typeface="Times New Roman" panose="02020603050405020304" pitchFamily="18" charset="0"/>
                          <a:cs typeface="Times New Roman" panose="02020603050405020304" pitchFamily="18" charset="0"/>
                        </a:rPr>
                        <a:t>90.31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atin typeface="Times New Roman" panose="02020603050405020304" pitchFamily="18" charset="0"/>
                          <a:cs typeface="Times New Roman" panose="02020603050405020304" pitchFamily="18" charset="0"/>
                        </a:rPr>
                        <a:t>89.71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atin typeface="Times New Roman" panose="02020603050405020304" pitchFamily="18" charset="0"/>
                          <a:cs typeface="Times New Roman" panose="02020603050405020304" pitchFamily="18" charset="0"/>
                        </a:rPr>
                        <a:t>89.68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atin typeface="Times New Roman" panose="02020603050405020304" pitchFamily="18" charset="0"/>
                          <a:cs typeface="Times New Roman" panose="02020603050405020304" pitchFamily="18" charset="0"/>
                        </a:rPr>
                        <a:t>89.72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8967924"/>
                  </a:ext>
                </a:extLst>
              </a:tr>
              <a:tr h="356250">
                <a:tc>
                  <a:txBody>
                    <a:bodyPr/>
                    <a:lstStyle/>
                    <a:p>
                      <a:r>
                        <a:rPr lang="en-IN">
                          <a:latin typeface="Times New Roman" panose="02020603050405020304" pitchFamily="18" charset="0"/>
                          <a:cs typeface="Times New Roman" panose="02020603050405020304" pitchFamily="18" charset="0"/>
                        </a:rPr>
                        <a:t>XGBoost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latin typeface="Times New Roman" panose="02020603050405020304" pitchFamily="18" charset="0"/>
                          <a:cs typeface="Times New Roman" panose="02020603050405020304" pitchFamily="18" charset="0"/>
                        </a:rPr>
                        <a:t>76.06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latin typeface="Times New Roman" panose="02020603050405020304" pitchFamily="18" charset="0"/>
                          <a:cs typeface="Times New Roman" panose="02020603050405020304" pitchFamily="18" charset="0"/>
                        </a:rPr>
                        <a:t>75.88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latin typeface="Times New Roman" panose="02020603050405020304" pitchFamily="18" charset="0"/>
                          <a:cs typeface="Times New Roman" panose="02020603050405020304" pitchFamily="18" charset="0"/>
                        </a:rPr>
                        <a:t>75.85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latin typeface="Times New Roman" panose="02020603050405020304" pitchFamily="18" charset="0"/>
                          <a:cs typeface="Times New Roman" panose="02020603050405020304" pitchFamily="18" charset="0"/>
                        </a:rPr>
                        <a:t>75.89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1134688"/>
                  </a:ext>
                </a:extLst>
              </a:tr>
              <a:tr h="356250">
                <a:tc>
                  <a:txBody>
                    <a:bodyPr/>
                    <a:lstStyle/>
                    <a:p>
                      <a:r>
                        <a:rPr lang="en-IN" b="1">
                          <a:latin typeface="Times New Roman" panose="02020603050405020304" pitchFamily="18" charset="0"/>
                          <a:cs typeface="Times New Roman" panose="02020603050405020304" pitchFamily="18" charset="0"/>
                        </a:rPr>
                        <a:t>CatBoost</a:t>
                      </a:r>
                      <a:endParaRPr lang="en-IN">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n-IN" sz="1800" b="1" kern="1200" dirty="0">
                          <a:solidFill>
                            <a:schemeClr val="tx1"/>
                          </a:solidFill>
                          <a:latin typeface="Times New Roman" panose="02020603050405020304" pitchFamily="18" charset="0"/>
                          <a:ea typeface="+mn-ea"/>
                          <a:cs typeface="Times New Roman" panose="02020603050405020304" pitchFamily="18" charset="0"/>
                        </a:rPr>
                        <a:t>95.61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n-IN" sz="1800" b="1" kern="1200" dirty="0">
                          <a:solidFill>
                            <a:schemeClr val="tx1"/>
                          </a:solidFill>
                          <a:latin typeface="Times New Roman" panose="02020603050405020304" pitchFamily="18" charset="0"/>
                          <a:ea typeface="+mn-ea"/>
                          <a:cs typeface="Times New Roman" panose="02020603050405020304" pitchFamily="18" charset="0"/>
                        </a:rPr>
                        <a:t>95.59</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n-IN" sz="1800" b="1" kern="1200" dirty="0">
                          <a:solidFill>
                            <a:schemeClr val="tx1"/>
                          </a:solidFill>
                          <a:latin typeface="Times New Roman" panose="02020603050405020304" pitchFamily="18" charset="0"/>
                          <a:ea typeface="+mn-ea"/>
                          <a:cs typeface="Times New Roman" panose="02020603050405020304" pitchFamily="18" charset="0"/>
                        </a:rPr>
                        <a:t>95.58</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n-IN" sz="1800" b="1" kern="1200" dirty="0">
                          <a:solidFill>
                            <a:schemeClr val="tx1"/>
                          </a:solidFill>
                          <a:latin typeface="Times New Roman" panose="02020603050405020304" pitchFamily="18" charset="0"/>
                          <a:ea typeface="+mn-ea"/>
                          <a:cs typeface="Times New Roman" panose="02020603050405020304" pitchFamily="18" charset="0"/>
                        </a:rPr>
                        <a:t>95.58</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436831"/>
                  </a:ext>
                </a:extLst>
              </a:tr>
            </a:tbl>
          </a:graphicData>
        </a:graphic>
      </p:graphicFrame>
    </p:spTree>
    <p:extLst>
      <p:ext uri="{BB962C8B-B14F-4D97-AF65-F5344CB8AC3E}">
        <p14:creationId xmlns:p14="http://schemas.microsoft.com/office/powerpoint/2010/main" val="2599859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EF594-2C1A-AD6F-B3A4-FDE75D689314}"/>
              </a:ext>
            </a:extLst>
          </p:cNvPr>
          <p:cNvSpPr>
            <a:spLocks noGrp="1"/>
          </p:cNvSpPr>
          <p:nvPr>
            <p:ph type="title"/>
          </p:nvPr>
        </p:nvSpPr>
        <p:spPr>
          <a:xfrm>
            <a:off x="0" y="404664"/>
            <a:ext cx="9144000" cy="1143000"/>
          </a:xfrm>
        </p:spPr>
        <p:txBody>
          <a:bodyPr/>
          <a:lstStyle/>
          <a:p>
            <a:r>
              <a:rPr lang="en-US" b="1" dirty="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BD2293F0-1051-42EA-ADF9-870E4CACC070}"/>
              </a:ext>
            </a:extLst>
          </p:cNvPr>
          <p:cNvSpPr>
            <a:spLocks noChangeArrowheads="1"/>
          </p:cNvSpPr>
          <p:nvPr/>
        </p:nvSpPr>
        <p:spPr bwMode="auto">
          <a:xfrm>
            <a:off x="755576" y="1551315"/>
            <a:ext cx="7920880" cy="3373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Proposed an enhanced and explainable ensemble-based framework for automated stroke prediction.</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Integrated </a:t>
            </a:r>
            <a:r>
              <a:rPr lang="en-US" dirty="0" err="1">
                <a:latin typeface="Times New Roman" panose="02020603050405020304" pitchFamily="18" charset="0"/>
                <a:cs typeface="Times New Roman" panose="02020603050405020304" pitchFamily="18" charset="0"/>
              </a:rPr>
              <a:t>CatBoost</a:t>
            </a:r>
            <a:r>
              <a:rPr lang="en-US" dirty="0">
                <a:latin typeface="Times New Roman" panose="02020603050405020304" pitchFamily="18" charset="0"/>
                <a:cs typeface="Times New Roman" panose="02020603050405020304" pitchFamily="18" charset="0"/>
              </a:rPr>
              <a:t> to handle class imbalance and complex feature interactions.</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Achieved high prediction accuracy of </a:t>
            </a:r>
            <a:r>
              <a:rPr lang="en-US" b="1" dirty="0">
                <a:latin typeface="Times New Roman" panose="02020603050405020304" pitchFamily="18" charset="0"/>
                <a:cs typeface="Times New Roman" panose="02020603050405020304" pitchFamily="18" charset="0"/>
              </a:rPr>
              <a:t>95.38%</a:t>
            </a:r>
            <a:r>
              <a:rPr lang="en-US" dirty="0">
                <a:latin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Explainable AI improved model transparency and clinician trust.</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Successfully deployed through a secure web-based application.</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a reliable, interpretable, and scalable solution for early stroke risk assessment and prevention.</a:t>
            </a:r>
          </a:p>
        </p:txBody>
      </p:sp>
    </p:spTree>
    <p:extLst>
      <p:ext uri="{BB962C8B-B14F-4D97-AF65-F5344CB8AC3E}">
        <p14:creationId xmlns:p14="http://schemas.microsoft.com/office/powerpoint/2010/main" val="3997601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500306"/>
            <a:ext cx="8229600" cy="1143000"/>
          </a:xfrm>
        </p:spPr>
        <p:txBody>
          <a:bodyPr>
            <a:noAutofit/>
          </a:bodyPr>
          <a:lstStyle/>
          <a:p>
            <a:r>
              <a:rPr lang="en-IN" sz="8000" b="1" dirty="0">
                <a:latin typeface="Times New Roman" pitchFamily="18" charset="0"/>
                <a:cs typeface="Times New Roman" pitchFamily="18" charset="0"/>
              </a:rPr>
              <a:t>Thank You</a:t>
            </a:r>
            <a:endParaRPr lang="en-US" sz="8000" b="1"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658</TotalTime>
  <Words>623</Words>
  <Application>Microsoft Office PowerPoint</Application>
  <PresentationFormat>On-screen Show (4:3)</PresentationFormat>
  <Paragraphs>120</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High-Performance Stroke Prediction Using Categorical Boosting and Explainable Machine Learning Models</vt:lpstr>
      <vt:lpstr>High-Performance Stroke Prediction Using Categorical Boosting and Explainable Machine Learning Models</vt:lpstr>
      <vt:lpstr>Abstract</vt:lpstr>
      <vt:lpstr>Objectives</vt:lpstr>
      <vt:lpstr>PowerPoint Presentation</vt:lpstr>
      <vt:lpstr>PowerPoint Presentation</vt:lpstr>
      <vt:lpstr>Proposed System</vt:lpstr>
      <vt:lpstr>PowerPoint Presentation</vt:lpstr>
      <vt:lpstr>PowerPoint Presentation</vt:lpstr>
      <vt:lpstr>Stroke Dataset</vt:lpstr>
      <vt:lpstr>PowerPoint Presentation</vt:lpstr>
      <vt:lpstr>Conclusion</vt:lpstr>
      <vt:lpstr>Thank You</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Integration of Vision Transformers with YOLOv8 for Enhanced Railway Surface Defect Detection</dc:title>
  <dc:creator>Lahari</dc:creator>
  <cp:lastModifiedBy>Lahari Gundiga</cp:lastModifiedBy>
  <cp:revision>24</cp:revision>
  <dcterms:created xsi:type="dcterms:W3CDTF">2025-08-31T10:57:27Z</dcterms:created>
  <dcterms:modified xsi:type="dcterms:W3CDTF">2026-02-19T16:19:23Z</dcterms:modified>
</cp:coreProperties>
</file>